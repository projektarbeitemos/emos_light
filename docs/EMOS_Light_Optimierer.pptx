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EMOS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>
                <a:solidFill>
                  <a:srgbClr val="CCD7EC"/>
                </a:solidFill>
                <a:latin typeface="Calibri"/>
              </a:rPr>
              <a:t>Der Backend-Optimierer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i="1">
                <a:solidFill>
                  <a:srgbClr val="CCD7EC"/>
                </a:solidFill>
                <a:latin typeface="Calibri"/>
              </a:rPr>
              <a:t>Von der Zielfunktion bis zur Lösung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AAB8D2"/>
                </a:solidFill>
                <a:latin typeface="Calibri"/>
              </a:rPr>
              <a:t>Projektarbeit EMOS Light   | 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Was wir uns in den nächsten Minuten anschauen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Was tut der Optimierer? Aufgabe in einem Satz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Die Zielfunktion – vier Kostenterme, die der Solver minimiert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Wer trägt was bei? Beiträge der einzelnen Komponenten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Die Knotenbilanz – die zentrale Kopplung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Wie löst der Solver das? LP-Relaxation, Branch-and-Bound, Schnittebenen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Modellgröße und Laufzeit bei EMOS Light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Was steht – und was noch ansteht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Was tut der Optimierer?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Eine Aufgabe, viele Stellschrauben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Bestimmt die Steuerung aller regelbaren Energiekomponenten über den Planungshorizont (typisch 24 h, in 15-min-Schritten)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Ziel: Gesamtkosten minimieren – Netzbezug + Komfortverletzung + Batterie-Verschleiß minus Einspeise-Erlös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Unter Einhaltung aller physikalischen und komfortbezogenen Nebenbedingungen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Mathematische Klasse: Mixed-Integer Linear Program (MILP)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>
                <a:solidFill>
                  <a:srgbClr val="333333"/>
                </a:solidFill>
                <a:latin typeface="Calibri"/>
              </a:rPr>
              <a:t>Solver: HiGHS (Open Source, MIT-Lizenz, schnell)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3200400" cy="1188720"/>
          </a:xfrm>
          <a:prstGeom prst="rect">
            <a:avLst/>
          </a:prstGeom>
          <a:solidFill>
            <a:srgbClr val="F5F7FC"/>
          </a:solidFill>
          <a:ln w="1016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Eingaben
Strompreise, Wetter, Lastprofil, Komponenten-Setup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937760"/>
            <a:ext cx="3931920" cy="1188720"/>
          </a:xfrm>
          <a:prstGeom prst="rect">
            <a:avLst/>
          </a:prstGeom>
          <a:solidFill>
            <a:srgbClr val="0B3D91"/>
          </a:solidFill>
          <a:ln w="1016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MILP-Optimierer
min Σ Kosten unter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4937760"/>
            <a:ext cx="3200400" cy="118872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200">
                <a:solidFill>
                  <a:srgbClr val="333333"/>
                </a:solidFill>
                <a:latin typeface="Calibri"/>
              </a:rPr>
              <a:t>Ausgabe
96 Steuerwerte je Komponente + Kosten-KPIs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CCD7EC"/>
                </a:solidFill>
                <a:latin typeface="Calibri"/>
              </a:rPr>
              <a:t>Teil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Die Zielfunktion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Zielfunktion im Überblick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Vier Kostenterme – einer mit negativem Vorzeichen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5017223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0175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 b="1">
                <a:solidFill>
                  <a:srgbClr val="333333"/>
                </a:solidFill>
                <a:latin typeface="Calibri"/>
              </a:rPr>
              <a:t>Netzkosten:</a:t>
            </a:r>
            <a:r>
              <a:rPr sz="2000">
                <a:solidFill>
                  <a:srgbClr val="333333"/>
                </a:solidFill>
                <a:latin typeface="Calibri"/>
              </a:rPr>
              <a:t> Bezug kostet, Einspeisung erlöst (negativer Term)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 b="1">
                <a:solidFill>
                  <a:srgbClr val="333333"/>
                </a:solidFill>
                <a:latin typeface="Calibri"/>
              </a:rPr>
              <a:t>Komfort-Strafkosten:</a:t>
            </a:r>
            <a:r>
              <a:rPr sz="2000">
                <a:solidFill>
                  <a:srgbClr val="333333"/>
                </a:solidFill>
                <a:latin typeface="Calibri"/>
              </a:rPr>
              <a:t> hohe Strafe für unerfüllten Wärmebedarf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Calibri"/>
              </a:rPr>
              <a:t>•  </a:t>
            </a:r>
            <a:r>
              <a:rPr sz="2000" b="1">
                <a:solidFill>
                  <a:srgbClr val="333333"/>
                </a:solidFill>
                <a:latin typeface="Calibri"/>
              </a:rPr>
              <a:t>Batterie-Alterung:</a:t>
            </a:r>
            <a:r>
              <a:rPr sz="2000">
                <a:solidFill>
                  <a:srgbClr val="333333"/>
                </a:solidFill>
                <a:latin typeface="Calibri"/>
              </a:rPr>
              <a:t> bremst übermäßiges Cycling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FBF3E1"/>
          </a:solidFill>
          <a:ln w="1016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Alles in ct, am Ende durch 100 für EUR. Die Zielfunktion ist linear in den Entscheidungsvariablen – darum bleibt das Problem lösbar als MILP.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Term 1 + 2:  Netzkosten und Einspeise-Erlös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Das Hauptmotiv des Solvers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6087068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π_t: dynamischer Endkundenpreis je Zeitschritt (Day-Ahead-Börse + Aufschläge + Steuern + MwSt)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π^feed: konstante Einspeisevergütung (typisch 7–8 ct/kWh, EEG-Festvergütung)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Δt: Zeitschrittlänge in Stunden (z.B. 0.25 bei 15-min-Schritten)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Bezug kostet, Einspeisung bringt Erlös – der Solver balanciert beide gegeneinander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EEF2FA"/>
          </a:solidFill>
          <a:ln w="10160">
            <a:solidFill>
              <a:srgbClr val="14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Praktischer Effekt: lieber PV selbst nutzen (oder in die Batterie/WP speichern), als für ~8 ct einspeisen, wenn später für 30 ct bezogen werden müsste.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Term 3:  Komfort-Strafkosten (Slack)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Sicherheitsventil, das fast nie auslöst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5621969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s^Heiz_t, s^WW_t: Slack-Variablen ≥ 0 für nicht-gedeckten Heiz- bzw. Warmwasserbedarf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c^slack = 500 ct/kWh – bewusst sehr hoch gewählt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Damit verletzt der Solver Komfort nur, wenn das Problem sonst infeasible wäre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Slack &gt; 0 im Ergebnis ist immer ein Warnsignal: zu wenig Kapazität, zu strenge Constraints oder unrealistische Eingaben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FBF3E1"/>
          </a:solidFill>
          <a:ln w="1016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Warum 500 ct/kWh?  Selbst im teuersten Strom-Szenario (~50 ct/kWh) lohnt es sich für den Solver lieber, Strom zu kaufen, als Komfort zu opfern. Faktor 10 Sicherheitsabstand.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Term 4:  Batterie-Alterungskosten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Bremst übermäßiges Cycling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5966464" cy="822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3358154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6616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C^Ersatz: Wiederbeschaffungswert (typisch 500 EUR/kWh)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N_EFC: Zyklen bis EOL (LFP 6000–10000, NMC 3000–5000)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η_rt: Roundtrip-Wirkungsgrad (typisch 0.85–0.95)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Halbiert in der Zielfunktion: ein Vollzyklus = 1× laden + 1× entladen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94415" cy="77724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Wirtschaftliche Konsequenz: ein Lade-Entlade-Zyklus muss eine Preisdifferenz von mindestens c^age / η_rt überschreiten, sonst lohnt er sich nicht. Bei Defaults: ~7 ct/kWh Hürde.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Die vollständige Zielfunktion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Alle vier Terme zusammen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4863344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20040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Lineare Funktion der Entscheidungsvariablen → MILP-kompatibel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Pro Zeitschritt: vier kleine Beiträge, gewichtet mit Δt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Summe über alle 96 Zeitschritte (24 h × 15 min) = Tageskosten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Was nicht drin ist (bewusst): CO₂, WP-Verschleiß, Investitionskosten – das sind keine durch Steuerung beeinflussbaren Größen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CCD7EC"/>
                </a:solidFill>
                <a:latin typeface="Calibri"/>
              </a:rPr>
              <a:t>Teil 2 – Komponenten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Wer trägt was bei?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Komponenten und ihre MILP-Beiträge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Variablen, Constraints, Rolle in der Bilanz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4206240"/>
                <a:gridCol w="155448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Komponente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Hauptbeitrag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Rolle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Netz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P^buy, P^sell + Binär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Disjunktion Bezug ↔ Einspeisung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Quelle/Senke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Batterie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P_ch, P_dis, E + 2 Binär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SOC-Bilanz, Lade/Entlade-Disjunktion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Speicher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Wärmepumpe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P^HP, y^HP, y^start, P^Stab + SG1/2/3/4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SG-Ready einziger Steuerkanal, Mindestlaufzeit 60 min, Heizstab (Backup)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Estrich (FBH)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E^Floor, Q^Floor_in, Q^Floor→Raum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Bilanz mit explizitem Wärmestrom an Raum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Speicher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Gebäude (Raum)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T_innen, s_low, s_high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Raumluftbilanz + Komfortband (Mai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Speicher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Pufferspeicher (WW)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E^WW, Q^WW_in + Legionellen-Bin.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Zwei-Zonen-Verluste, SG3/SG4-Boost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Speicher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Wallbox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P^WB, y^WB, SOC^EV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Ziel-SOC zur Abfahrt, 5%/h Fahrverbrauch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Senke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PV / FWS / E-Auto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(keine eigenen)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Lieferung von Eingangs-Zeitreihen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passiv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Die Knotenbilanz Strom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Die zentrale Kopplung aller Komponenten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334325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Linke Seite – Erzeugung: PV + Netzbezug + Batterie-Entladung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Rechte Seite – Verbrauch: Haushaltslast + Netzeinspeisung + Batterie-Ladung + Wärmepumpe + Summe aller Wallboxen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Kirchhoff am AC-Knoten – muss in jedem Zeitschritt exakt erfüllt sein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Hier kommt die Sektorenkopplung Strom ↔ Wärme zustande: PV-Überschuss kann in die WP fließen und dort als Wärme im Estrich landen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11094415" cy="128016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Diese eine Constraint ist die zentrale Stelle, an der alle Komponenten miteinander reden. Eine neue Komponente integriert sich in EMOS Light primär über diese Bilanz – sie liefert ihren Beitrag als Term links oder rechts.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Batterie – Constraints im Detail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SOC-Bilanz und Lade/Entlade-Disjunktion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196087" cy="502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505092" cy="5029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8725291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9319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Disjunktion (Zeile 1): nie gleichzeitig laden und entladen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Big-M-Kopplung (Zeile 2): Leistung nur, wenn Binärvariable aktiv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SOC-Bilanz (Zeile 3): Verluste auf der DC-Seite verbucht – 1 kWh AC laden bringt η_ch kWh in den Speicher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Bounds: E^min ≤ E_t ≤ E^max (nutzbares SoC-Fenster)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52160"/>
            <a:ext cx="11094415" cy="594360"/>
          </a:xfrm>
          <a:prstGeom prst="rect">
            <a:avLst/>
          </a:prstGeom>
          <a:solidFill>
            <a:srgbClr val="FBF3E1"/>
          </a:solidFill>
          <a:ln w="10160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Ohne Disjunktion könnte der Solver beide Variablen &gt; 0 setzen und die Roundtrip-Verluste als 'kostenlose Energievernichtung' missbrauchen – physikalisch unmöglich, mathematisch verlockend.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Wärmepumpe – Constraints im Detail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Modulation, Hardwareschutz, SG-Ready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Modulationsbereich:</a:t>
            </a:r>
            <a:r>
              <a:rPr sz="1600">
                <a:solidFill>
                  <a:srgbClr val="333333"/>
                </a:solidFill>
                <a:latin typeface="Calibri"/>
              </a:rPr>
              <a:t> P^HP_min · y^HP_t ≤ P^HP_t ≤ P^HP_max · y^HP_t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Mindestlaufzeit / Mindestpausenzeit (Hardware-Schutz)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Verdichter-Schonung via Mindestlaufzeit (60 min, Juni 2026):</a:t>
            </a:r>
            <a:r>
              <a:rPr sz="1600">
                <a:solidFill>
                  <a:srgbClr val="333333"/>
                </a:solidFill>
                <a:latin typeface="Calibri"/>
              </a:rPr>
              <a:t> jeder Einschaltvorgang läuft mind. 1 h; y^start_t exakt an y^HP gekoppelt (Diagnose, kein Tageslimit mehr)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Thermische Kopplung:</a:t>
            </a:r>
            <a:r>
              <a:rPr sz="1600">
                <a:solidFill>
                  <a:srgbClr val="333333"/>
                </a:solidFill>
                <a:latin typeface="Calibri"/>
              </a:rPr>
              <a:t> Q^Floor_in_t = COP^heiz_t · P^HP,Floor_t und Q^WW_in_t = COP^ww_t · P^HP,WW_t  (COP vorberechnet → linear)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Eingebauter Heizstab (Backup, COP 1):</a:t>
            </a:r>
            <a:r>
              <a:rPr sz="1600">
                <a:solidFill>
                  <a:srgbClr val="333333"/>
                </a:solidFill>
                <a:latin typeface="Calibri"/>
              </a:rPr>
              <a:t> P^Stab_t ∈ [0, 8,5 kW] speist additiv in den FBH-Kreis; nur aktiv bei WP-Kapazitätsgrenze (sonst teurer als WP → aus)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SG-Ready (BWP v1.1) als einziger Steuerkanal:</a:t>
            </a:r>
            <a:r>
              <a:rPr sz="1600">
                <a:solidFill>
                  <a:srgbClr val="333333"/>
                </a:solidFill>
                <a:latin typeface="Calibri"/>
              </a:rPr>
              <a:t> Σ_i y^SGi_t = 1   und   y^HP_t + y^SG1_t = 1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 b="1">
                <a:solidFill>
                  <a:srgbClr val="333333"/>
                </a:solidFill>
                <a:latin typeface="Calibri"/>
              </a:rPr>
              <a:t>SG3:</a:t>
            </a:r>
            <a:r>
              <a:rPr sz="1600">
                <a:solidFill>
                  <a:srgbClr val="333333"/>
                </a:solidFill>
                <a:latin typeface="Calibri"/>
              </a:rPr>
              <a:t> WW-Sollwert +ΔT³. SG4: zusätzlich auch Estrich-Sollwert +ΔT⁴ (Zwangseinschaltung mit Pufferspeicher-Boost)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Trick: der COP wird VOR der Optimierung als Zeitreihe berechnet (2D-Interpolation aus aroTHERM-Kennfeld, abhängig von Außen- und Vorlauftemperatur). Damit bleibt die Beziehung zwischen elektrischer und thermischer Leistung linear – sonst wäre das Problem bilinear.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Thermische Speicher (Mai 2026)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Estrich → Raum → Außen als explizite Energiekette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916583" cy="5486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745777" cy="5486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23160"/>
            <a:ext cx="9142882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29184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Estrich → Raum: Q^Floor→Raum eigene MILP-Variable; Bilanz affin in T_floor und T_innen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Raumluft: T_innen ist seit Mai 2026 eine MILP-Zustandsvariable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Komfortband: T_innen ∈ [T_min, T_max] als Soft-Constraint, Slack-Penalty 500 ct/kWh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WW-Speicher: Zwei-Zonen mit geometriebasierten Verlusten (unverändert)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3D91"/>
                </a:solidFill>
                <a:latin typeface="Calibri"/>
              </a:rPr>
              <a:t>•  </a:t>
            </a:r>
            <a:r>
              <a:rPr sz="1300">
                <a:solidFill>
                  <a:srgbClr val="333333"/>
                </a:solidFill>
                <a:latin typeface="Calibri"/>
              </a:rPr>
              <a:t>Fallback ohne Building: alte Verlustraten-Bilanz mit λ · E (rückwärtskompatibel)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Wallbox – Constraints pro Fahrzeug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Modulation, Anwesenheit, Mindestlademenge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Modulationsbereich: P^WB,min · y^WB_t ≤ P^WB_t ≤ P^WB,max · y^WB_t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EV-Anwesenheit: P^WB_t = 0, wenn das Fahrzeug nicht am Stecker hängt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Calibri"/>
              </a:rPr>
              <a:t>•  </a:t>
            </a:r>
            <a:r>
              <a:rPr sz="1800">
                <a:solidFill>
                  <a:srgbClr val="333333"/>
                </a:solidFill>
                <a:latin typeface="Calibri"/>
              </a:rPr>
              <a:t>Mindestlademenge: garantiert die geforderte Reichweite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4530664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ΔSOC = SOC_ziel − SOC_aktuell, abgeleitet aus Mindestreichweite × Verbrauch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Pro Wallbox eigener Block – mehrere Wallboxen koexistieren als unabhängige Blöcke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Optional: Strompreis-Perzentil-Filter (nur in günstigsten X % der Anwesenheitsstunden laden)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CCD7EC"/>
                </a:solidFill>
                <a:latin typeface="Calibri"/>
              </a:rPr>
              <a:t>Teil 3 – Algorithmus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Wie löst der Solver das?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Die Problemklasse: MILP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Mixed-Integer Linear Programming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982511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74320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Linear: Zielfunktion und alle Constraints sind lineare Ausdrücke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Konvex: ohne Ganzzahligkeit wäre der zulässige Bereich ein konvexer Polyeder – Optimum in einer Ecke (Fundamentalsatz LP)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Ganzzahlig: Binärvariablen für Schalt-Entscheidungen (WP an/aus, Batterie laden/entladen, SG-Ready 1/3)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Ohne Ganzzahligkeit polynomial lösbar – mit ist es NP-schwer (theoretisch). In der Praxis: HiGHS löst unser Modell in &amp;lt; 1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Schritt 1:  LP-Relaxation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Untere Schranke durch Lockerung der Ganzzahligkeit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Binärvariablen y ∈ {0,1} werden zu kontinuierlichen y ∈ [0,1] gemacht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Resultierendes Problem: reines LP – polynomial lösbar mit Simplex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LP-Lösung typisch fraktional (z.B. y^HP_14:00 = 0.42) – physikalisch unsinnig, aber liefert eine untere Schranke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200400"/>
            <a:ext cx="2485872" cy="731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solidFill>
            <a:srgbClr val="EEF2FA"/>
          </a:solidFill>
          <a:ln w="10160">
            <a:solidFill>
              <a:srgbClr val="14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Die LP-Relaxation ist der Kern der Beweisführung: sie garantiert, dass die echte MILP-Lösung nicht günstiger sein kann als der LP-Optimum-Wert. Damit kann der Solver gezielt suchen, statt alle 10^174 möglichen Binärbelegungen aufzuzählen.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Schritt 2:  Branch-and-Bound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Verzweigen und kluges Abschneiden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Verzweigen: wähle eine fraktionale Binärvariable und teile das Problem in zwei Unterprobleme (y=0 und y=1)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Jedes Unterproblem ist wieder ein LP – kann gelöst werden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Pruning: Subbäume verwerfen, sobald deren LP-Bound die beste bisherige ganzzahlige Lösung (Inkumbente) nicht mehr unterbieten kann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Bei EMOS Light: statt 10^174 Möglichkeiten werden tatsächlich nur einige hundert Knoten besucht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Anschauung: wie ein Detektiv. Statt jeden Verdächtigen einzeln zu befragen, schließt der Solver ganze Personengruppen aus, weil deren optimistische Schätzung schon teurer ist als das beste bekannte echte Ergebnis.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Konvergenz:  zwei Schranken treffen sich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MIP-Gap → 0 = Optimum bewiesen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29436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603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Untere Schranke (LB): bestes LP-Ergebnis offener Knoten – steigt durch Pruning monoton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Obere Schranke (UB): bester gefundener echter Plan (Inkumbente) – sinkt monoton durch Heuristiken (Diving, Feasibility Pump)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Wenn UB = LB (oder Gap &lt; Toleranz): Optimum bewiesen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Bei EMOS Light: typisch &amp;lt; 1 s bis Gap &amp;lt; 0.01 %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solidFill>
            <a:srgbClr val="EEF2FA"/>
          </a:solidFill>
          <a:ln w="10160">
            <a:solidFill>
              <a:srgbClr val="14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MILP liefert eine BEWIESEN optimale Lösung – nicht 'wahrscheinlich gut' wie bei Heuristiken oder neuronalen Netzen. Das ist der entscheidende Vorteil gegenüber RL- oder ML-basierten Ansätzen.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Lebenslauf eines Optimierungslaufs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Was passiert in unter einer Sekunde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740664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 [ms]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Aktion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Modellbau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PuLP erzeugt ~1.700 Variablen und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I/O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LP-Datei schreiben, HiGHS starten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Presolve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Modell um 30–60 % schrumpfen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Wurzel-LP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Erste LP-Relaxation, LB ≈ 4,21 EUR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Schnittebenen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~30 Cuts hinzufügen, LB steigt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Heuristik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Diving findet erste Inkumbente, UB ≈ 4,71 EUR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Branch-and-Bound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Verzweigen, prunen, Heuristiken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680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Konvergenz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Gap &lt; 0.01 %, Optimum bewiesen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Rücklesen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Variablenwerte → OptimizationResult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Modellgröße bei EMOS Light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Was der Solver tatsächlich vor sich hat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1645920"/>
                <a:gridCol w="1828800"/>
                <a:gridCol w="201168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Konfiguration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Variablen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davon binär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Constraints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Lösungszeit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Nur Netz + Last (24 h, 15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 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 PV + Batterie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770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290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670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 200 ms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 WP + FBH + WW + SG-Ready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 500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+ 2 Wallboxen (Vollszenario)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2100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770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2200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 700 ms</a:t>
                      </a:r>
                    </a:p>
                  </a:txBody>
                  <a:tcPr>
                    <a:solidFill>
                      <a:srgbClr val="F5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MPC-Mehrtages (35 h Horizont)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≈ 2500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~ 1500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394960"/>
            <a:ext cx="11094415" cy="914400"/>
          </a:xfrm>
          <a:prstGeom prst="rect">
            <a:avLst/>
          </a:prstGeom>
          <a:solidFill>
            <a:srgbClr val="EAF6ED"/>
          </a:solidFill>
          <a:ln w="10160">
            <a:solidFill>
              <a:srgbClr val="0A6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Selbst das volle Szenario lässt sich im Sekundenbereich lösen. Das ist der Grund, warum MPC praktikabel ist – wir können stündlich neu rechnen, ohne dass das Hardware-Probleme verursacht.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CCD7EC"/>
                </a:solidFill>
                <a:latin typeface="Calibri"/>
              </a:rPr>
              <a:t>Teil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Was steht – und was kommt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Stand der Implementierung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Was funktioniert, was gerade refactored wurde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Alle 9 Komponenten implementiert – mit realen Parametern (aroTHERM-Kennfeld, BWP-SG-Ready, DIN-basierte Gebäudewerte)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MILP-Optimierer + MPC-Schleife + Baseline funktionieren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Dashboard (Streamlit) mit allen Konfigurationsfeldern, Plots, YAML-Import/-Export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Refactoring abgeschlossen: zwei-stufige Basisklasse (Component vs MILPComponent), MILP-Helfer-Modul mit 8 wiederverwendbaren Bausteinen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Effekt: Komponenten-Code 26 % kürzer, eine neue Komponente lässt sich in 2–4 h statt einem Tag implementieren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212080"/>
            <a:ext cx="11094415" cy="1188720"/>
          </a:xfrm>
          <a:prstGeom prst="rect">
            <a:avLst/>
          </a:prstGeom>
          <a:solidFill>
            <a:srgbClr val="EEF2FA"/>
          </a:solidFill>
          <a:ln w="10160">
            <a:solidFill>
              <a:srgbClr val="14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Praktischer Effekt des Refactorings: die häufig duplizierten Muster (z.B. SOC-Bilanz mit t=0-Sonderfall, EIN/AUS-Power-Link) stehen einmal zentral. Komponenten schreiben Intent statt Boilerplate.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Ausblick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Die nächsten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2R2C-Gebäudemodell: separater Raum-/Wand-Knoten mit Transmissions- und Lüftungsverlusten als Constraints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Hybrid-PV-Prognose: Day-Ahead-Wetter + HTW-Intraday-Korrektur – soll typische Fehler bei Bewölkung halbieren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Adaptiver MPC-Horizont: vormittags nur Resttag, ab 13 Uhr (wenn EPEX-Preise für morgen da sind) voller 35-h-Horizont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Optimizer-Refactoring Stufe 2: generische Komponenten-Schleife, dict-basiertes Result, Plugin-Registry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Erweiterte Komponenten auf der Wunschliste: Heizstab (~½ Tag), Solarthermie (~1 Tag), BHKW (~2–3 Tage)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3D91"/>
                </a:solidFill>
                <a:latin typeface="Calibri"/>
              </a:rPr>
              <a:t>•  </a:t>
            </a:r>
            <a:r>
              <a:rPr sz="1600">
                <a:solidFill>
                  <a:srgbClr val="333333"/>
                </a:solidFill>
                <a:latin typeface="Calibri"/>
              </a:rPr>
              <a:t>Validierung gegen Realdaten aus dem Pilotgebäude (InfluxDB)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Take-Home Messages</a:t>
            </a:r>
          </a:p>
          <a:p>
            <a:pPr algn="l"/>
            <a:r>
              <a:rPr sz="1400">
                <a:solidFill>
                  <a:srgbClr val="CCD7EC"/>
                </a:solidFill>
                <a:latin typeface="Calibri"/>
              </a:rPr>
              <a:t>Was du mitnehmen solltest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MILP, nicht KI: bewiesen optimale Lösungen, erklärbar, ohne Trainingsdaten – Standard in der industriellen Energieoptimierung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Zielfunktion = vier lineare Terme: Netzkosten, Einspeise-Erlös, Komfort-Strafe, Batterie-Alterung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Knotenbilanz als zentrale Kopplung: alle Komponenten treffen sich in einer Gleichung pro Zeitschritt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Linearität ist kein Zufall, sondern Modellentscheidung: COP vorberechnet, Big-M-Disjunktionen, Slack mit Penalty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HiGHS löst typisch in unter einer Sekunde – damit MPC praktikabel und für Echtbetrieb geeignet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700" b="1">
                <a:solidFill>
                  <a:srgbClr val="0B3D91"/>
                </a:solidFill>
                <a:latin typeface="Calibri"/>
              </a:rPr>
              <a:t>•  </a:t>
            </a:r>
            <a:r>
              <a:rPr sz="1700">
                <a:solidFill>
                  <a:srgbClr val="333333"/>
                </a:solidFill>
                <a:latin typeface="Calibri"/>
              </a:rPr>
              <a:t>Modulare Architektur nach Refactoring: neue Komponenten in Stunden statt Tagen integrierbar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Calibri"/>
              </a:rPr>
              <a:t>EMOS Light  —  Backend-Optimierer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CCD7EC"/>
                </a:solidFill>
                <a:latin typeface="Calibri"/>
              </a:rPr>
              <a:t>Diskussion und Vertiefung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